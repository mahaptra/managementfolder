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id-ID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B8EDA31-8724-460B-ABAF-48694B10DB9F}" type="datetimeFigureOut">
              <a:rPr lang="id-ID" smtClean="0"/>
              <a:pPr/>
              <a:t>26/12/2014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id-ID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0B7F681-A2C9-4524-8B45-A323462691BA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d-ID" dirty="0" smtClean="0"/>
              <a:t>Rina Kurniawati, S.Kom., MT</a:t>
            </a:r>
            <a:endParaRPr lang="id-ID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d-ID" dirty="0" smtClean="0"/>
              <a:t>Kasus Normalisasi</a:t>
            </a:r>
            <a:endParaRPr lang="id-ID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74638"/>
            <a:ext cx="8329642" cy="1143000"/>
          </a:xfrm>
        </p:spPr>
        <p:txBody>
          <a:bodyPr>
            <a:normAutofit/>
          </a:bodyPr>
          <a:lstStyle/>
          <a:p>
            <a:r>
              <a:rPr lang="id-ID" sz="3200" dirty="0" smtClean="0"/>
              <a:t>DOKUMEN DASAR FAKTUR PEMBELIAN</a:t>
            </a:r>
            <a:endParaRPr lang="id-ID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543444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dirty="0"/>
              <a:t>PT. SANTA PURI                                </a:t>
            </a:r>
            <a:r>
              <a:rPr lang="en-US" sz="2000" b="1" dirty="0" smtClean="0"/>
              <a:t>FAKTUR </a:t>
            </a:r>
            <a:r>
              <a:rPr lang="en-US" sz="2000" b="1" dirty="0"/>
              <a:t>PEMBELIAN BARANG</a:t>
            </a: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Jl. </a:t>
            </a:r>
            <a:r>
              <a:rPr lang="en-US" sz="2000" dirty="0" err="1"/>
              <a:t>Senopati</a:t>
            </a:r>
            <a:r>
              <a:rPr lang="en-US" sz="2000" dirty="0"/>
              <a:t> 11</a:t>
            </a: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Bandung</a:t>
            </a: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/>
              <a:t>  </a:t>
            </a: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 err="1"/>
              <a:t>Kode</a:t>
            </a:r>
            <a:r>
              <a:rPr lang="en-US" sz="2000" dirty="0"/>
              <a:t> Supplier  : G01			</a:t>
            </a:r>
            <a:r>
              <a:rPr lang="en-US" sz="2000" dirty="0" err="1" smtClean="0"/>
              <a:t>Tanggal</a:t>
            </a:r>
            <a:r>
              <a:rPr lang="en-US" sz="2000" dirty="0" smtClean="0"/>
              <a:t>  </a:t>
            </a:r>
            <a:r>
              <a:rPr lang="en-US" sz="2000" dirty="0"/>
              <a:t>:  07/02/90</a:t>
            </a: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 err="1"/>
              <a:t>Nama</a:t>
            </a:r>
            <a:r>
              <a:rPr lang="en-US" sz="2000" dirty="0"/>
              <a:t> Supplier : </a:t>
            </a:r>
            <a:r>
              <a:rPr lang="en-US" sz="2000" dirty="0" err="1"/>
              <a:t>Gobel</a:t>
            </a:r>
            <a:r>
              <a:rPr lang="en-US" sz="2000" dirty="0"/>
              <a:t> </a:t>
            </a:r>
            <a:r>
              <a:rPr lang="en-US" sz="2000" dirty="0" err="1"/>
              <a:t>Nustra</a:t>
            </a:r>
            <a:r>
              <a:rPr lang="en-US" sz="2000" dirty="0"/>
              <a:t>		</a:t>
            </a:r>
            <a:r>
              <a:rPr lang="en-US" sz="2000" dirty="0" err="1" smtClean="0"/>
              <a:t>Nomor</a:t>
            </a:r>
            <a:r>
              <a:rPr lang="en-US" sz="2000" dirty="0" smtClean="0"/>
              <a:t>    </a:t>
            </a:r>
            <a:r>
              <a:rPr lang="en-US" sz="2000" dirty="0"/>
              <a:t>:  998</a:t>
            </a:r>
            <a:endParaRPr lang="id-ID" sz="2000" dirty="0"/>
          </a:p>
          <a:p>
            <a:pPr>
              <a:spcBef>
                <a:spcPts val="0"/>
              </a:spcBef>
            </a:pPr>
            <a:endParaRPr lang="id-ID" sz="2000" dirty="0" smtClean="0"/>
          </a:p>
          <a:p>
            <a:pPr>
              <a:spcBef>
                <a:spcPts val="0"/>
              </a:spcBef>
            </a:pPr>
            <a:endParaRPr lang="id-ID" sz="2000" dirty="0"/>
          </a:p>
          <a:p>
            <a:pPr>
              <a:spcBef>
                <a:spcPts val="0"/>
              </a:spcBef>
            </a:pPr>
            <a:endParaRPr lang="id-ID" sz="2000" dirty="0" smtClean="0"/>
          </a:p>
          <a:p>
            <a:pPr>
              <a:spcBef>
                <a:spcPts val="0"/>
              </a:spcBef>
            </a:pPr>
            <a:endParaRPr lang="id-ID" sz="2000" dirty="0"/>
          </a:p>
          <a:p>
            <a:pPr>
              <a:spcBef>
                <a:spcPts val="0"/>
              </a:spcBef>
            </a:pPr>
            <a:endParaRPr lang="id-ID" sz="2000" dirty="0" smtClean="0"/>
          </a:p>
          <a:p>
            <a:pPr>
              <a:spcBef>
                <a:spcPts val="0"/>
              </a:spcBef>
            </a:pPr>
            <a:endParaRPr lang="id-ID" sz="2000" dirty="0"/>
          </a:p>
          <a:p>
            <a:pPr>
              <a:spcBef>
                <a:spcPts val="0"/>
              </a:spcBef>
              <a:buNone/>
            </a:pPr>
            <a:r>
              <a:rPr lang="en-US" sz="2000" dirty="0" err="1" smtClean="0"/>
              <a:t>Jatuh</a:t>
            </a:r>
            <a:r>
              <a:rPr lang="en-US" sz="2000" dirty="0" smtClean="0"/>
              <a:t> </a:t>
            </a:r>
            <a:r>
              <a:rPr lang="en-US" sz="2000" dirty="0"/>
              <a:t>Tempo </a:t>
            </a:r>
            <a:r>
              <a:rPr lang="en-US" sz="2000" dirty="0" err="1"/>
              <a:t>faktur</a:t>
            </a:r>
            <a:r>
              <a:rPr lang="en-US" sz="2000" dirty="0"/>
              <a:t> : 09/03/90</a:t>
            </a:r>
            <a:endParaRPr lang="id-ID" sz="2000" dirty="0"/>
          </a:p>
          <a:p>
            <a:pPr>
              <a:spcBef>
                <a:spcPts val="0"/>
              </a:spcBef>
            </a:pPr>
            <a:endParaRPr lang="id-ID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3714751"/>
          <a:ext cx="7929619" cy="1500199"/>
        </p:xfrm>
        <a:graphic>
          <a:graphicData uri="http://schemas.openxmlformats.org/drawingml/2006/table">
            <a:tbl>
              <a:tblPr/>
              <a:tblGrid>
                <a:gridCol w="685204"/>
                <a:gridCol w="2486643"/>
                <a:gridCol w="1585924"/>
                <a:gridCol w="1585924"/>
                <a:gridCol w="1585924"/>
              </a:tblGrid>
              <a:tr h="3750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Nama Barang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009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A01 A02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AC SPLIT ½ PK 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AC SPLIT 1 PK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6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6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050">
                <a:tc gridSpan="4"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Arial"/>
                          <a:ea typeface="Times New Roman"/>
                          <a:cs typeface="Times New Roman"/>
                        </a:rPr>
                        <a:t>Total </a:t>
                      </a:r>
                      <a:r>
                        <a:rPr lang="en-US" sz="1600" dirty="0" err="1">
                          <a:latin typeface="Arial"/>
                          <a:ea typeface="Times New Roman"/>
                          <a:cs typeface="Times New Roman"/>
                        </a:rPr>
                        <a:t>Faktur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6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 smtClean="0"/>
              <a:t>BENTUK UNNORMAL – NORMAL 1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57158" y="1785926"/>
          <a:ext cx="8429684" cy="1071570"/>
        </p:xfrm>
        <a:graphic>
          <a:graphicData uri="http://schemas.openxmlformats.org/drawingml/2006/table">
            <a:tbl>
              <a:tblPr/>
              <a:tblGrid>
                <a:gridCol w="537343"/>
                <a:gridCol w="537343"/>
                <a:gridCol w="801301"/>
                <a:gridCol w="537343"/>
                <a:gridCol w="1202894"/>
                <a:gridCol w="801301"/>
                <a:gridCol w="802244"/>
                <a:gridCol w="537343"/>
                <a:gridCol w="801301"/>
                <a:gridCol w="936107"/>
                <a:gridCol w="935164"/>
              </a:tblGrid>
              <a:tr h="48577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Nama barang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Tanggal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Jatuh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tempo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Hitachi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Rice 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Cooker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02/02/90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1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A01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A02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AC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SPLIT ½ PK 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AC SPLIT 1 PK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8596" y="3214686"/>
          <a:ext cx="8335889" cy="1143008"/>
        </p:xfrm>
        <a:graphic>
          <a:graphicData uri="http://schemas.openxmlformats.org/drawingml/2006/table">
            <a:tbl>
              <a:tblPr/>
              <a:tblGrid>
                <a:gridCol w="537343"/>
                <a:gridCol w="537343"/>
                <a:gridCol w="801301"/>
                <a:gridCol w="537343"/>
                <a:gridCol w="1202894"/>
                <a:gridCol w="801301"/>
                <a:gridCol w="802244"/>
                <a:gridCol w="443548"/>
                <a:gridCol w="801301"/>
                <a:gridCol w="936107"/>
                <a:gridCol w="935164"/>
              </a:tblGrid>
              <a:tr h="48577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 err="1">
                          <a:latin typeface="Arial"/>
                          <a:ea typeface="Times New Roman"/>
                          <a:cs typeface="Times New Roman"/>
                        </a:rPr>
                        <a:t>barang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Tanggal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Jatuh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tempo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Hitachi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Rice 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Cooker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02/02/90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AC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SPLIT ½ PK 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AC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SPLIT 1 PK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sz="2800" dirty="0" smtClean="0"/>
              <a:t>MENENTUKAN KETERGANTUNGAN  ATRIBUT</a:t>
            </a:r>
            <a:endParaRPr lang="id-ID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00034" y="3071810"/>
            <a:ext cx="2828916" cy="342902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d-ID" sz="2000" dirty="0" smtClean="0"/>
              <a:t>Atribut Kunci  :</a:t>
            </a:r>
          </a:p>
          <a:p>
            <a:pPr>
              <a:buNone/>
            </a:pPr>
            <a:r>
              <a:rPr lang="id-ID" sz="2000" dirty="0" smtClean="0"/>
              <a:t>No_fak </a:t>
            </a:r>
            <a:r>
              <a:rPr lang="id-ID" sz="2000" dirty="0" smtClean="0">
                <a:sym typeface="Wingdings" pitchFamily="2" charset="2"/>
              </a:rPr>
              <a:t> Nama_Supp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   	              Nama_brg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		</a:t>
            </a:r>
            <a:r>
              <a:rPr lang="id-ID" sz="2000" dirty="0">
                <a:sym typeface="Wingdings" pitchFamily="2" charset="2"/>
              </a:rPr>
              <a:t> </a:t>
            </a:r>
            <a:r>
              <a:rPr lang="id-ID" sz="2000" dirty="0" smtClean="0">
                <a:sym typeface="Wingdings" pitchFamily="2" charset="2"/>
              </a:rPr>
              <a:t>     Tgl_fak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		      Qty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                 Harga_sat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	 	      Jumlah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		      Total</a:t>
            </a:r>
          </a:p>
          <a:p>
            <a:pPr>
              <a:buNone/>
            </a:pPr>
            <a:r>
              <a:rPr lang="id-ID" sz="2000" dirty="0" smtClean="0">
                <a:sym typeface="Wingdings" pitchFamily="2" charset="2"/>
              </a:rPr>
              <a:t>		      JTF</a:t>
            </a:r>
          </a:p>
          <a:p>
            <a:endParaRPr lang="id-ID" sz="2000" dirty="0" smtClean="0">
              <a:sym typeface="Wingdings" pitchFamily="2" charset="2"/>
            </a:endParaRPr>
          </a:p>
          <a:p>
            <a:endParaRPr lang="id-ID" sz="20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071934" y="4857760"/>
            <a:ext cx="4143404" cy="1785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Atribut Kunci 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Kode_brg</a:t>
            </a: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Nama_brg</a:t>
            </a:r>
          </a:p>
          <a:p>
            <a:pPr marL="342900" lvl="0" indent="-342900">
              <a:spcBef>
                <a:spcPct val="20000"/>
              </a:spcBef>
            </a:pPr>
            <a:r>
              <a:rPr lang="id-ID" dirty="0">
                <a:sym typeface="Wingdings" pitchFamily="2" charset="2"/>
              </a:rPr>
              <a:t> </a:t>
            </a:r>
            <a:r>
              <a:rPr lang="id-ID" dirty="0" smtClean="0">
                <a:sym typeface="Wingdings" pitchFamily="2" charset="2"/>
              </a:rPr>
              <a:t>		         Qty</a:t>
            </a:r>
            <a:endParaRPr kumimoji="0" lang="id-ID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                Harga_sat</a:t>
            </a:r>
          </a:p>
          <a:p>
            <a:pPr marL="342900" lvl="0" indent="-342900">
              <a:spcBef>
                <a:spcPct val="20000"/>
              </a:spcBef>
            </a:pPr>
            <a:r>
              <a:rPr lang="id-ID" dirty="0" smtClean="0">
                <a:sym typeface="Wingdings" pitchFamily="2" charset="2"/>
              </a:rPr>
              <a:t>                    Jumlah</a:t>
            </a:r>
            <a:endParaRPr kumimoji="0" lang="id-ID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 	</a:t>
            </a:r>
            <a:endParaRPr kumimoji="0" lang="id-ID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000496" y="2857496"/>
            <a:ext cx="4429156" cy="2000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Atribut Kunci  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Kode_Supp </a:t>
            </a: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 Nama_Supp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	                    Nama_brg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	             Qty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                     Harga_sat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 	             Jumlah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		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id-ID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57158" y="1428736"/>
          <a:ext cx="8335889" cy="1143008"/>
        </p:xfrm>
        <a:graphic>
          <a:graphicData uri="http://schemas.openxmlformats.org/drawingml/2006/table">
            <a:tbl>
              <a:tblPr/>
              <a:tblGrid>
                <a:gridCol w="537343"/>
                <a:gridCol w="537343"/>
                <a:gridCol w="801301"/>
                <a:gridCol w="537343"/>
                <a:gridCol w="1202894"/>
                <a:gridCol w="801301"/>
                <a:gridCol w="802244"/>
                <a:gridCol w="443548"/>
                <a:gridCol w="801301"/>
                <a:gridCol w="936107"/>
                <a:gridCol w="935164"/>
              </a:tblGrid>
              <a:tr h="48577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Nama barang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Tanggal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Jatuh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tempo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Hitachi</a:t>
                      </a:r>
                      <a:endParaRPr lang="id-ID" sz="1600" dirty="0" smtClean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Rice 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Cooker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02/02/90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AC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SPLIT ½ PK 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431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err="1" smtClean="0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N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A02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AC </a:t>
                      </a:r>
                      <a:r>
                        <a:rPr lang="en-US" sz="1100" dirty="0">
                          <a:latin typeface="Arial"/>
                          <a:ea typeface="Times New Roman"/>
                          <a:cs typeface="Times New Roman"/>
                        </a:rPr>
                        <a:t>SPLIT 1 PK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id-ID" sz="1100" dirty="0" smtClean="0">
                          <a:latin typeface="Arial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en-US" sz="1100" dirty="0" smtClean="0">
                          <a:latin typeface="Arial"/>
                          <a:ea typeface="Times New Roman"/>
                          <a:cs typeface="Times New Roman"/>
                        </a:rPr>
                        <a:t>3.500.000</a:t>
                      </a:r>
                      <a:endParaRPr lang="id-ID" sz="16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BENTUK NORMAL KE 2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1631624"/>
          <a:ext cx="7786741" cy="1154434"/>
        </p:xfrm>
        <a:graphic>
          <a:graphicData uri="http://schemas.openxmlformats.org/drawingml/2006/table">
            <a:tbl>
              <a:tblPr/>
              <a:tblGrid>
                <a:gridCol w="1059166"/>
                <a:gridCol w="1420529"/>
                <a:gridCol w="1060412"/>
                <a:gridCol w="882223"/>
                <a:gridCol w="1943882"/>
                <a:gridCol w="1420529"/>
              </a:tblGrid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Nama barang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Hitachi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 N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4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A01 </a:t>
                      </a:r>
                      <a:endParaRPr lang="id-ID" sz="1400" dirty="0" smtClean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A02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Rice Cooker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AC SPLIT ½ PK 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AC SPLIT 1 PK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150.000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4348" y="3214686"/>
          <a:ext cx="3571900" cy="1500198"/>
        </p:xfrm>
        <a:graphic>
          <a:graphicData uri="http://schemas.openxmlformats.org/drawingml/2006/table">
            <a:tbl>
              <a:tblPr/>
              <a:tblGrid>
                <a:gridCol w="596732"/>
                <a:gridCol w="889864"/>
                <a:gridCol w="971522"/>
                <a:gridCol w="1113782"/>
              </a:tblGrid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Tanggal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Jatuh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tempo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1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02/02/90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33.500.000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33.500.000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86248" y="3214686"/>
          <a:ext cx="1928826" cy="1500198"/>
        </p:xfrm>
        <a:graphic>
          <a:graphicData uri="http://schemas.openxmlformats.org/drawingml/2006/table">
            <a:tbl>
              <a:tblPr/>
              <a:tblGrid>
                <a:gridCol w="714380"/>
                <a:gridCol w="1214446"/>
              </a:tblGrid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1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4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5074" y="3214686"/>
          <a:ext cx="1714512" cy="1500198"/>
        </p:xfrm>
        <a:graphic>
          <a:graphicData uri="http://schemas.openxmlformats.org/drawingml/2006/table">
            <a:tbl>
              <a:tblPr/>
              <a:tblGrid>
                <a:gridCol w="785818"/>
                <a:gridCol w="928694"/>
              </a:tblGrid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1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A01</a:t>
                      </a:r>
                      <a:endParaRPr lang="id-ID" sz="1400" dirty="0" smtClean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 A02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d-ID" dirty="0" smtClean="0"/>
              <a:t>BENTUK NORMAL KE 3</a:t>
            </a:r>
            <a:endParaRPr lang="id-ID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14348" y="1631624"/>
          <a:ext cx="7786741" cy="1154434"/>
        </p:xfrm>
        <a:graphic>
          <a:graphicData uri="http://schemas.openxmlformats.org/drawingml/2006/table">
            <a:tbl>
              <a:tblPr/>
              <a:tblGrid>
                <a:gridCol w="1059166"/>
                <a:gridCol w="1420529"/>
                <a:gridCol w="1060412"/>
                <a:gridCol w="882223"/>
                <a:gridCol w="1943882"/>
                <a:gridCol w="1420529"/>
              </a:tblGrid>
              <a:tr h="5143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Nama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4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Nama barang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Harga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5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Hitachi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Gobel</a:t>
                      </a: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 N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4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A01 </a:t>
                      </a:r>
                      <a:endParaRPr lang="id-ID" sz="1400" dirty="0" smtClean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A02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Rice Cooker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AC SPLIT ½ PK 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AC SPLIT 1 PK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150.000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1.350.000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2.000.000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4348" y="3286124"/>
          <a:ext cx="4643469" cy="1158243"/>
        </p:xfrm>
        <a:graphic>
          <a:graphicData uri="http://schemas.openxmlformats.org/drawingml/2006/table">
            <a:tbl>
              <a:tblPr/>
              <a:tblGrid>
                <a:gridCol w="591356"/>
                <a:gridCol w="881847"/>
                <a:gridCol w="962770"/>
                <a:gridCol w="1103748"/>
                <a:gridCol w="1103748"/>
              </a:tblGrid>
              <a:tr h="53418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Tanggal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Jatuh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>
                          <a:latin typeface="Arial"/>
                          <a:ea typeface="Times New Roman"/>
                          <a:cs typeface="Times New Roman"/>
                        </a:rPr>
                        <a:t>tempo</a:t>
                      </a:r>
                      <a:endParaRPr lang="id-ID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Total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Supp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05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02/02/90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07/02/90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09/03/90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33.500.000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S02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G01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2910" y="5000636"/>
          <a:ext cx="2714644" cy="1500198"/>
        </p:xfrm>
        <a:graphic>
          <a:graphicData uri="http://schemas.openxmlformats.org/drawingml/2006/table">
            <a:tbl>
              <a:tblPr/>
              <a:tblGrid>
                <a:gridCol w="714380"/>
                <a:gridCol w="1214446"/>
                <a:gridCol w="785818"/>
              </a:tblGrid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Qty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Jumlah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Kode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Brg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1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10.0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400" dirty="0" smtClean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.0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13.500.000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400" dirty="0" smtClean="0">
                          <a:latin typeface="Arial"/>
                          <a:ea typeface="Times New Roman"/>
                          <a:cs typeface="Times New Roman"/>
                        </a:rPr>
                        <a:t>1</a:t>
                      </a: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0.000.000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R02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A01</a:t>
                      </a:r>
                      <a:endParaRPr lang="id-ID" sz="1400" dirty="0" smtClean="0"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Arial"/>
                          <a:ea typeface="Times New Roman"/>
                          <a:cs typeface="Times New Roman"/>
                        </a:rPr>
                        <a:t> A02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2910" y="4643446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TRANSAKSI</a:t>
            </a:r>
            <a:endParaRPr lang="id-ID" dirty="0"/>
          </a:p>
        </p:txBody>
      </p:sp>
      <p:sp>
        <p:nvSpPr>
          <p:cNvPr id="8" name="TextBox 7"/>
          <p:cNvSpPr txBox="1"/>
          <p:nvPr/>
        </p:nvSpPr>
        <p:spPr>
          <a:xfrm>
            <a:off x="714348" y="292893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FAKTUR</a:t>
            </a:r>
            <a:endParaRPr lang="id-ID" dirty="0"/>
          </a:p>
        </p:txBody>
      </p:sp>
      <p:sp>
        <p:nvSpPr>
          <p:cNvPr id="9" name="TextBox 8"/>
          <p:cNvSpPr txBox="1"/>
          <p:nvPr/>
        </p:nvSpPr>
        <p:spPr>
          <a:xfrm>
            <a:off x="785786" y="1285860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SUPPLIER</a:t>
            </a:r>
            <a:endParaRPr lang="id-ID" dirty="0"/>
          </a:p>
        </p:txBody>
      </p:sp>
      <p:sp>
        <p:nvSpPr>
          <p:cNvPr id="10" name="TextBox 9"/>
          <p:cNvSpPr txBox="1"/>
          <p:nvPr/>
        </p:nvSpPr>
        <p:spPr>
          <a:xfrm>
            <a:off x="4286248" y="1285860"/>
            <a:ext cx="99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 smtClean="0"/>
              <a:t>BARANG</a:t>
            </a:r>
            <a:endParaRPr lang="id-ID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357554" y="5000636"/>
          <a:ext cx="928694" cy="1500198"/>
        </p:xfrm>
        <a:graphic>
          <a:graphicData uri="http://schemas.openxmlformats.org/drawingml/2006/table">
            <a:tbl>
              <a:tblPr/>
              <a:tblGrid>
                <a:gridCol w="928694"/>
              </a:tblGrid>
              <a:tr h="60007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No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latin typeface="Arial"/>
                          <a:ea typeface="Times New Roman"/>
                          <a:cs typeface="Times New Roman"/>
                        </a:rPr>
                        <a:t>Fak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011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779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Arial"/>
                          <a:ea typeface="Times New Roman"/>
                          <a:cs typeface="Times New Roman"/>
                        </a:rPr>
                        <a:t>998</a:t>
                      </a:r>
                      <a:endParaRPr lang="id-ID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id-ID" dirty="0" smtClean="0"/>
              <a:t>ERD</a:t>
            </a:r>
            <a:endParaRPr lang="id-ID" dirty="0"/>
          </a:p>
        </p:txBody>
      </p:sp>
      <p:grpSp>
        <p:nvGrpSpPr>
          <p:cNvPr id="108" name="Group 107"/>
          <p:cNvGrpSpPr/>
          <p:nvPr/>
        </p:nvGrpSpPr>
        <p:grpSpPr>
          <a:xfrm>
            <a:off x="0" y="1071546"/>
            <a:ext cx="9144000" cy="5214974"/>
            <a:chOff x="0" y="1071546"/>
            <a:chExt cx="9144000" cy="5214974"/>
          </a:xfrm>
        </p:grpSpPr>
        <p:sp>
          <p:nvSpPr>
            <p:cNvPr id="4" name="TextBox 3"/>
            <p:cNvSpPr txBox="1"/>
            <p:nvPr/>
          </p:nvSpPr>
          <p:spPr>
            <a:xfrm>
              <a:off x="500034" y="2285992"/>
              <a:ext cx="214314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dirty="0" smtClean="0"/>
                <a:t>FAKTUR</a:t>
              </a:r>
              <a:endParaRPr lang="id-ID" sz="2400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6715140" y="2285992"/>
              <a:ext cx="1714512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dirty="0" smtClean="0"/>
                <a:t>BARANG</a:t>
              </a:r>
              <a:endParaRPr lang="id-ID" sz="24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000496" y="4714884"/>
              <a:ext cx="1785950" cy="461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id-ID" sz="2400" dirty="0" smtClean="0"/>
                <a:t>SUPPLIER</a:t>
              </a:r>
              <a:endParaRPr lang="id-ID" sz="2400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642910" y="4429132"/>
              <a:ext cx="1857388" cy="1000132"/>
              <a:chOff x="1071538" y="3571876"/>
              <a:chExt cx="1857388" cy="1000132"/>
            </a:xfrm>
          </p:grpSpPr>
          <p:sp>
            <p:nvSpPr>
              <p:cNvPr id="8" name="Diamond 7"/>
              <p:cNvSpPr/>
              <p:nvPr/>
            </p:nvSpPr>
            <p:spPr>
              <a:xfrm>
                <a:off x="1071538" y="3571876"/>
                <a:ext cx="1857388" cy="1000132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357290" y="3857628"/>
                <a:ext cx="1428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dirty="0" smtClean="0"/>
                  <a:t>membeli</a:t>
                </a:r>
                <a:endParaRPr lang="id-ID" dirty="0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643306" y="2000240"/>
              <a:ext cx="1857388" cy="1000132"/>
              <a:chOff x="1071538" y="3571876"/>
              <a:chExt cx="1857388" cy="1000132"/>
            </a:xfrm>
          </p:grpSpPr>
          <p:sp>
            <p:nvSpPr>
              <p:cNvPr id="12" name="Diamond 11"/>
              <p:cNvSpPr/>
              <p:nvPr/>
            </p:nvSpPr>
            <p:spPr>
              <a:xfrm>
                <a:off x="1071538" y="3571876"/>
                <a:ext cx="1857388" cy="1000132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214414" y="3857628"/>
                <a:ext cx="15716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TRANSAKSI</a:t>
                </a:r>
                <a:endParaRPr lang="id-ID" dirty="0"/>
              </a:p>
            </p:txBody>
          </p:sp>
        </p:grpSp>
        <p:cxnSp>
          <p:nvCxnSpPr>
            <p:cNvPr id="15" name="Straight Connector 14"/>
            <p:cNvCxnSpPr>
              <a:stCxn id="4" idx="3"/>
              <a:endCxn id="12" idx="1"/>
            </p:cNvCxnSpPr>
            <p:nvPr/>
          </p:nvCxnSpPr>
          <p:spPr>
            <a:xfrm flipV="1">
              <a:off x="2643174" y="2500306"/>
              <a:ext cx="1000132" cy="16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2" idx="3"/>
              <a:endCxn id="5" idx="1"/>
            </p:cNvCxnSpPr>
            <p:nvPr/>
          </p:nvCxnSpPr>
          <p:spPr>
            <a:xfrm>
              <a:off x="5500694" y="2500306"/>
              <a:ext cx="1214446" cy="16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" idx="2"/>
              <a:endCxn id="8" idx="0"/>
            </p:cNvCxnSpPr>
            <p:nvPr/>
          </p:nvCxnSpPr>
          <p:spPr>
            <a:xfrm rot="5400000">
              <a:off x="730867" y="3588394"/>
              <a:ext cx="1681475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8" idx="3"/>
              <a:endCxn id="6" idx="1"/>
            </p:cNvCxnSpPr>
            <p:nvPr/>
          </p:nvCxnSpPr>
          <p:spPr>
            <a:xfrm>
              <a:off x="2500298" y="4929198"/>
              <a:ext cx="1500198" cy="16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4143372" y="5643578"/>
              <a:ext cx="1357322" cy="642942"/>
              <a:chOff x="5286380" y="3929066"/>
              <a:chExt cx="1357322" cy="642942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Kode_supp</a:t>
                </a:r>
                <a:endParaRPr lang="id-ID" dirty="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6786578" y="3214686"/>
              <a:ext cx="1357322" cy="642942"/>
              <a:chOff x="5286380" y="3929066"/>
              <a:chExt cx="1357322" cy="64294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Kode_brg</a:t>
                </a:r>
                <a:endParaRPr lang="id-ID" dirty="0"/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7786678" y="1071546"/>
              <a:ext cx="1357322" cy="642942"/>
              <a:chOff x="5286380" y="3929066"/>
              <a:chExt cx="1357322" cy="64294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Harga_sat</a:t>
                </a:r>
                <a:endParaRPr lang="id-ID" dirty="0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6215074" y="1071546"/>
              <a:ext cx="1357322" cy="642942"/>
              <a:chOff x="5286380" y="3929066"/>
              <a:chExt cx="1357322" cy="64294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Nama_brg</a:t>
                </a:r>
                <a:endParaRPr lang="id-ID" dirty="0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5857884" y="5286388"/>
              <a:ext cx="1357322" cy="642942"/>
              <a:chOff x="5286380" y="3929066"/>
              <a:chExt cx="1357322" cy="642942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nama_supp</a:t>
                </a:r>
                <a:endParaRPr lang="id-ID" dirty="0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2000232" y="3071810"/>
              <a:ext cx="1357322" cy="642942"/>
              <a:chOff x="5286380" y="3929066"/>
              <a:chExt cx="1357322" cy="642942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total</a:t>
                </a:r>
                <a:endParaRPr lang="id-ID" dirty="0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0" y="3071810"/>
              <a:ext cx="1357322" cy="642942"/>
              <a:chOff x="5286380" y="3929066"/>
              <a:chExt cx="1357322" cy="642942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JTF</a:t>
                </a:r>
                <a:endParaRPr lang="id-ID" dirty="0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1857356" y="1142984"/>
              <a:ext cx="1357322" cy="642942"/>
              <a:chOff x="5286380" y="3929066"/>
              <a:chExt cx="1357322" cy="642942"/>
            </a:xfrm>
          </p:grpSpPr>
          <p:sp>
            <p:nvSpPr>
              <p:cNvPr id="45" name="Oval 44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Tgl_fak</a:t>
                </a:r>
                <a:endParaRPr lang="id-ID" dirty="0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214282" y="1214422"/>
              <a:ext cx="1357322" cy="642942"/>
              <a:chOff x="5286380" y="3929066"/>
              <a:chExt cx="1357322" cy="642942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No_fak</a:t>
                </a:r>
                <a:endParaRPr lang="id-ID" dirty="0"/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285720" y="5572140"/>
              <a:ext cx="1357322" cy="642942"/>
              <a:chOff x="5286380" y="3929066"/>
              <a:chExt cx="1357322" cy="642942"/>
            </a:xfrm>
          </p:grpSpPr>
          <p:sp>
            <p:nvSpPr>
              <p:cNvPr id="51" name="Oval 50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Kode_supp</a:t>
                </a:r>
                <a:endParaRPr lang="id-ID" dirty="0"/>
              </a:p>
            </p:txBody>
          </p:sp>
        </p:grpSp>
        <p:grpSp>
          <p:nvGrpSpPr>
            <p:cNvPr id="53" name="Group 52"/>
            <p:cNvGrpSpPr/>
            <p:nvPr/>
          </p:nvGrpSpPr>
          <p:grpSpPr>
            <a:xfrm>
              <a:off x="3571868" y="1071546"/>
              <a:ext cx="1357322" cy="642942"/>
              <a:chOff x="5286380" y="3929066"/>
              <a:chExt cx="1357322" cy="642942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No_fak</a:t>
                </a:r>
                <a:endParaRPr lang="id-ID" dirty="0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214282" y="3857628"/>
              <a:ext cx="1357322" cy="642942"/>
              <a:chOff x="5286380" y="3929066"/>
              <a:chExt cx="1357322" cy="642942"/>
            </a:xfrm>
          </p:grpSpPr>
          <p:sp>
            <p:nvSpPr>
              <p:cNvPr id="57" name="Oval 56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No_fak</a:t>
                </a:r>
                <a:endParaRPr lang="id-ID" dirty="0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5072066" y="2928934"/>
              <a:ext cx="1357322" cy="642942"/>
              <a:chOff x="5286380" y="3929066"/>
              <a:chExt cx="1357322" cy="642942"/>
            </a:xfrm>
          </p:grpSpPr>
          <p:sp>
            <p:nvSpPr>
              <p:cNvPr id="60" name="Oval 59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Kode_brg</a:t>
                </a:r>
                <a:endParaRPr lang="id-ID" dirty="0"/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2071670" y="4000504"/>
              <a:ext cx="1357322" cy="642942"/>
              <a:chOff x="5286380" y="3929066"/>
              <a:chExt cx="1357322" cy="642942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total</a:t>
                </a:r>
                <a:endParaRPr lang="id-ID" dirty="0"/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2000232" y="5214950"/>
              <a:ext cx="1357322" cy="642942"/>
              <a:chOff x="5286380" y="3929066"/>
              <a:chExt cx="1357322" cy="642942"/>
            </a:xfrm>
          </p:grpSpPr>
          <p:sp>
            <p:nvSpPr>
              <p:cNvPr id="66" name="Oval 65"/>
              <p:cNvSpPr/>
              <p:nvPr/>
            </p:nvSpPr>
            <p:spPr>
              <a:xfrm>
                <a:off x="5357818" y="3929066"/>
                <a:ext cx="1214446" cy="642942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5286380" y="4071942"/>
                <a:ext cx="135732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d-ID" dirty="0" smtClean="0"/>
                  <a:t>total</a:t>
                </a:r>
                <a:endParaRPr lang="id-ID" dirty="0"/>
              </a:p>
            </p:txBody>
          </p:sp>
        </p:grpSp>
        <p:cxnSp>
          <p:nvCxnSpPr>
            <p:cNvPr id="69" name="Straight Connector 68"/>
            <p:cNvCxnSpPr>
              <a:stCxn id="48" idx="4"/>
            </p:cNvCxnSpPr>
            <p:nvPr/>
          </p:nvCxnSpPr>
          <p:spPr>
            <a:xfrm rot="16200000" flipH="1">
              <a:off x="803646" y="1946660"/>
              <a:ext cx="428628" cy="25003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1928794" y="1928802"/>
              <a:ext cx="500066" cy="2143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42" idx="0"/>
            </p:cNvCxnSpPr>
            <p:nvPr/>
          </p:nvCxnSpPr>
          <p:spPr>
            <a:xfrm rot="5400000" flipH="1" flipV="1">
              <a:off x="696504" y="2768215"/>
              <a:ext cx="285752" cy="3214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 rot="16200000" flipH="1">
              <a:off x="2107389" y="2821777"/>
              <a:ext cx="357190" cy="285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 rot="16200000" flipH="1">
              <a:off x="3857620" y="1857364"/>
              <a:ext cx="428628" cy="1428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5214942" y="2643182"/>
              <a:ext cx="357190" cy="285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/>
            <p:nvPr/>
          </p:nvCxnSpPr>
          <p:spPr>
            <a:xfrm rot="16200000" flipH="1">
              <a:off x="6893735" y="1893083"/>
              <a:ext cx="571504" cy="2143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/>
            <p:nvPr/>
          </p:nvCxnSpPr>
          <p:spPr>
            <a:xfrm rot="5400000">
              <a:off x="7786710" y="1857364"/>
              <a:ext cx="571504" cy="285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>
              <a:off x="7000892" y="3000372"/>
              <a:ext cx="5715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/>
            <p:nvPr/>
          </p:nvCxnSpPr>
          <p:spPr>
            <a:xfrm rot="16200000" flipH="1">
              <a:off x="714348" y="4500570"/>
              <a:ext cx="214314" cy="21431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endCxn id="51" idx="0"/>
            </p:cNvCxnSpPr>
            <p:nvPr/>
          </p:nvCxnSpPr>
          <p:spPr>
            <a:xfrm rot="5400000">
              <a:off x="839365" y="5339967"/>
              <a:ext cx="357190" cy="1071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 flipV="1">
              <a:off x="2143108" y="4572008"/>
              <a:ext cx="142876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/>
            <p:cNvCxnSpPr/>
            <p:nvPr/>
          </p:nvCxnSpPr>
          <p:spPr>
            <a:xfrm rot="16200000" flipH="1">
              <a:off x="1964513" y="5250669"/>
              <a:ext cx="214314" cy="1428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rot="16200000" flipH="1">
              <a:off x="4429124" y="5357826"/>
              <a:ext cx="500066" cy="714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5500694" y="5143512"/>
              <a:ext cx="571504" cy="28575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101"/>
            <p:cNvSpPr txBox="1"/>
            <p:nvPr/>
          </p:nvSpPr>
          <p:spPr>
            <a:xfrm>
              <a:off x="2714612" y="220241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/>
                <a:t>n</a:t>
              </a:r>
              <a:endParaRPr lang="id-ID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357950" y="2214554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/>
                <a:t>n</a:t>
              </a:r>
              <a:endParaRPr lang="id-ID" dirty="0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643306" y="4572008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/>
                <a:t>1</a:t>
              </a:r>
              <a:endParaRPr lang="id-ID" dirty="0"/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1571604" y="271462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dirty="0" smtClean="0"/>
                <a:t>n</a:t>
              </a:r>
              <a:endParaRPr lang="id-ID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268</TotalTime>
  <Words>440</Words>
  <Application>Microsoft Office PowerPoint</Application>
  <PresentationFormat>On-screen Show (4:3)</PresentationFormat>
  <Paragraphs>341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Equity</vt:lpstr>
      <vt:lpstr>Kasus Normalisasi</vt:lpstr>
      <vt:lpstr>DOKUMEN DASAR FAKTUR PEMBELIAN</vt:lpstr>
      <vt:lpstr>BENTUK UNNORMAL – NORMAL 1</vt:lpstr>
      <vt:lpstr>MENENTUKAN KETERGANTUNGAN  ATRIBUT</vt:lpstr>
      <vt:lpstr>BENTUK NORMAL KE 2</vt:lpstr>
      <vt:lpstr>BENTUK NORMAL KE 3</vt:lpstr>
      <vt:lpstr>ERD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Kasus Normalisasi</dc:title>
  <dc:creator>user</dc:creator>
  <cp:lastModifiedBy>user</cp:lastModifiedBy>
  <cp:revision>23</cp:revision>
  <dcterms:created xsi:type="dcterms:W3CDTF">2014-05-22T04:12:57Z</dcterms:created>
  <dcterms:modified xsi:type="dcterms:W3CDTF">2014-12-25T19:56:19Z</dcterms:modified>
</cp:coreProperties>
</file>